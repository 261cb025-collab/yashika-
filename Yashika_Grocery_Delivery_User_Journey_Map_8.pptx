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87" d="100"/>
          <a:sy n="87" d="100"/>
        </p:scale>
        <p:origin x="-499" y="-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3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823960" y="-685800"/>
            <a:ext cx="3840480" cy="3840480"/>
          </a:xfrm>
          <a:prstGeom prst="ellipse">
            <a:avLst/>
          </a:prstGeom>
          <a:solidFill>
            <a:srgbClr val="46805B"/>
          </a:solidFill>
          <a:ln>
            <a:solidFill>
              <a:srgbClr val="468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738360" y="5166360"/>
            <a:ext cx="2468880" cy="2468880"/>
          </a:xfrm>
          <a:prstGeom prst="ellipse">
            <a:avLst/>
          </a:prstGeom>
          <a:solidFill>
            <a:srgbClr val="E8B74E"/>
          </a:solidFill>
          <a:ln>
            <a:solidFill>
              <a:srgbClr val="E8B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58368" y="685800"/>
            <a:ext cx="201168" cy="1005840"/>
          </a:xfrm>
          <a:prstGeom prst="roundRect">
            <a:avLst/>
          </a:prstGeom>
          <a:solidFill>
            <a:srgbClr val="E8B74E"/>
          </a:solidFill>
          <a:ln>
            <a:solidFill>
              <a:srgbClr val="E8B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658368"/>
            <a:ext cx="18288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1">
                <a:solidFill>
                  <a:srgbClr val="E8B74E"/>
                </a:solidFill>
                <a:latin typeface="Aptos"/>
              </a:rPr>
              <a:t>SET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143000"/>
            <a:ext cx="6766560" cy="1600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Aptos"/>
              </a:rPr>
              <a:t>Grocery Delivery
User Journey 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2971800"/>
            <a:ext cx="5943600" cy="7772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700" b="0">
                <a:solidFill>
                  <a:srgbClr val="DAE6DC"/>
                </a:solidFill>
                <a:latin typeface="Aptos"/>
              </a:rPr>
              <a:t>Designing a smooth mobile experience
from grocery search to doorstep delivery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43800" y="960120"/>
            <a:ext cx="3154680" cy="49834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754112" y="1261872"/>
            <a:ext cx="2724912" cy="4370832"/>
          </a:xfrm>
          <a:prstGeom prst="roundRect">
            <a:avLst/>
          </a:prstGeom>
          <a:solidFill>
            <a:srgbClr val="DAEEDE"/>
          </a:solidFill>
          <a:ln>
            <a:solidFill>
              <a:srgbClr val="DAE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973568" y="1481328"/>
            <a:ext cx="219456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800" b="1">
                <a:solidFill>
                  <a:srgbClr val="23372A"/>
                </a:solidFill>
                <a:latin typeface="Aptos"/>
              </a:rPr>
              <a:t>FreshCart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965960"/>
            <a:ext cx="219456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156448" y="2066543"/>
            <a:ext cx="1874519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950" b="0">
                <a:solidFill>
                  <a:srgbClr val="67746C"/>
                </a:solidFill>
                <a:latin typeface="Aptos"/>
              </a:rPr>
              <a:t>🔎  Search groceries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01000" y="2697480"/>
            <a:ext cx="219456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156448" y="2816352"/>
            <a:ext cx="1874519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919" b="1">
                <a:solidFill>
                  <a:srgbClr val="23372A"/>
                </a:solidFill>
                <a:latin typeface="Aptos"/>
              </a:rPr>
              <a:t>🥬 Fresh vegetables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01000" y="3310128"/>
            <a:ext cx="219456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156448" y="3429000"/>
            <a:ext cx="1874519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919" b="1">
                <a:solidFill>
                  <a:srgbClr val="23372A"/>
                </a:solidFill>
                <a:latin typeface="Aptos"/>
              </a:rPr>
              <a:t>🍎 Fruits &amp; snacks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01000" y="3922776"/>
            <a:ext cx="219456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156448" y="4041648"/>
            <a:ext cx="1874519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919" b="1">
                <a:solidFill>
                  <a:srgbClr val="23372A"/>
                </a:solidFill>
                <a:latin typeface="Aptos"/>
              </a:rPr>
              <a:t>🥛 Dairy &amp; staples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02752" y="4736592"/>
            <a:ext cx="1572768" cy="438912"/>
          </a:xfrm>
          <a:prstGeom prst="roundRect">
            <a:avLst/>
          </a:prstGeom>
          <a:solidFill>
            <a:srgbClr val="46805B"/>
          </a:solidFill>
          <a:ln>
            <a:solidFill>
              <a:srgbClr val="468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02752" y="4828032"/>
            <a:ext cx="1572768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Order now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6144768"/>
            <a:ext cx="438912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50" b="0">
                <a:solidFill>
                  <a:srgbClr val="BECDC1"/>
                </a:solidFill>
                <a:latin typeface="Aptos"/>
              </a:rPr>
              <a:t>Prepared for: UI/UX Assignment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804672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700" b="1">
                <a:solidFill>
                  <a:srgbClr val="23372A"/>
                </a:solidFill>
                <a:latin typeface="Aptos"/>
              </a:rPr>
              <a:t>1. Journey Map at a Glance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896112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50" b="0">
                <a:solidFill>
                  <a:srgbClr val="67746C"/>
                </a:solidFill>
                <a:latin typeface="Aptos"/>
              </a:rPr>
              <a:t>The complete grocery-ordering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438912"/>
            <a:ext cx="50292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100" b="1">
                <a:solidFill>
                  <a:srgbClr val="46805B"/>
                </a:solidFill>
                <a:latin typeface="Aptos"/>
              </a:rPr>
              <a:t>02</a:t>
            </a:r>
          </a:p>
        </p:txBody>
      </p:sp>
      <p:sp>
        <p:nvSpPr>
          <p:cNvPr id="5" name="Oval 4"/>
          <p:cNvSpPr/>
          <p:nvPr/>
        </p:nvSpPr>
        <p:spPr>
          <a:xfrm>
            <a:off x="594360" y="1828800"/>
            <a:ext cx="658368" cy="658368"/>
          </a:xfrm>
          <a:prstGeom prst="ellipse">
            <a:avLst/>
          </a:prstGeom>
          <a:solidFill>
            <a:srgbClr val="46805B"/>
          </a:solidFill>
          <a:ln>
            <a:solidFill>
              <a:srgbClr val="468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993392"/>
            <a:ext cx="658368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97480"/>
            <a:ext cx="96012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300" b="1">
                <a:solidFill>
                  <a:srgbClr val="23372A"/>
                </a:solidFill>
                <a:latin typeface="Aptos"/>
              </a:rPr>
              <a:t>Discover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" y="3063240"/>
            <a:ext cx="1261872" cy="56692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950" b="0">
                <a:solidFill>
                  <a:srgbClr val="67746C"/>
                </a:solidFill>
                <a:latin typeface="Aptos"/>
              </a:rPr>
              <a:t>Open app &amp; browse</a:t>
            </a:r>
          </a:p>
        </p:txBody>
      </p:sp>
      <p:sp>
        <p:nvSpPr>
          <p:cNvPr id="9" name="Rectangle 8"/>
          <p:cNvSpPr/>
          <p:nvPr/>
        </p:nvSpPr>
        <p:spPr>
          <a:xfrm>
            <a:off x="1252728" y="2121408"/>
            <a:ext cx="1216152" cy="36576"/>
          </a:xfrm>
          <a:prstGeom prst="rect">
            <a:avLst/>
          </a:prstGeom>
          <a:solidFill>
            <a:srgbClr val="DAEE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2468879" y="1828800"/>
            <a:ext cx="658368" cy="658368"/>
          </a:xfrm>
          <a:prstGeom prst="ellipse">
            <a:avLst/>
          </a:prstGeom>
          <a:solidFill>
            <a:srgbClr val="46805B"/>
          </a:solidFill>
          <a:ln>
            <a:solidFill>
              <a:srgbClr val="468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468879" y="1993392"/>
            <a:ext cx="658368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31720" y="2697480"/>
            <a:ext cx="96012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300" b="1">
                <a:solidFill>
                  <a:srgbClr val="23372A"/>
                </a:solidFill>
                <a:latin typeface="Aptos"/>
              </a:rPr>
              <a:t>Search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76272" y="3063240"/>
            <a:ext cx="1261872" cy="56692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950" b="0">
                <a:solidFill>
                  <a:srgbClr val="67746C"/>
                </a:solidFill>
                <a:latin typeface="Aptos"/>
              </a:rPr>
              <a:t>Find products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27248" y="2121408"/>
            <a:ext cx="1216152" cy="36576"/>
          </a:xfrm>
          <a:prstGeom prst="rect">
            <a:avLst/>
          </a:prstGeom>
          <a:solidFill>
            <a:srgbClr val="DAEE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4343400" y="1828800"/>
            <a:ext cx="658368" cy="658368"/>
          </a:xfrm>
          <a:prstGeom prst="ellipse">
            <a:avLst/>
          </a:prstGeom>
          <a:solidFill>
            <a:srgbClr val="46805B"/>
          </a:solidFill>
          <a:ln>
            <a:solidFill>
              <a:srgbClr val="468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343400" y="1993392"/>
            <a:ext cx="658368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40" y="2697480"/>
            <a:ext cx="96012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300" b="1">
                <a:solidFill>
                  <a:srgbClr val="23372A"/>
                </a:solidFill>
                <a:latin typeface="Aptos"/>
              </a:rPr>
              <a:t>Select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50791" y="3063240"/>
            <a:ext cx="1261872" cy="56692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950" b="0">
                <a:solidFill>
                  <a:srgbClr val="67746C"/>
                </a:solidFill>
                <a:latin typeface="Aptos"/>
              </a:rPr>
              <a:t>Add to cart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1768" y="2121408"/>
            <a:ext cx="1216152" cy="36576"/>
          </a:xfrm>
          <a:prstGeom prst="rect">
            <a:avLst/>
          </a:prstGeom>
          <a:solidFill>
            <a:srgbClr val="DAEE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6217920" y="1828800"/>
            <a:ext cx="658368" cy="658368"/>
          </a:xfrm>
          <a:prstGeom prst="ellipse">
            <a:avLst/>
          </a:prstGeom>
          <a:solidFill>
            <a:srgbClr val="46805B"/>
          </a:solidFill>
          <a:ln>
            <a:solidFill>
              <a:srgbClr val="468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217920" y="1993392"/>
            <a:ext cx="658368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80759" y="2697480"/>
            <a:ext cx="96012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300" b="1">
                <a:solidFill>
                  <a:srgbClr val="23372A"/>
                </a:solidFill>
                <a:latin typeface="Aptos"/>
              </a:rPr>
              <a:t>Checkout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25312" y="3063240"/>
            <a:ext cx="1261872" cy="56692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950" b="0">
                <a:solidFill>
                  <a:srgbClr val="67746C"/>
                </a:solidFill>
                <a:latin typeface="Aptos"/>
              </a:rPr>
              <a:t>Address &amp; payment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76288" y="2121408"/>
            <a:ext cx="1216152" cy="36576"/>
          </a:xfrm>
          <a:prstGeom prst="rect">
            <a:avLst/>
          </a:prstGeom>
          <a:solidFill>
            <a:srgbClr val="DAEE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8092440" y="1828800"/>
            <a:ext cx="658368" cy="658368"/>
          </a:xfrm>
          <a:prstGeom prst="ellipse">
            <a:avLst/>
          </a:prstGeom>
          <a:solidFill>
            <a:srgbClr val="46805B"/>
          </a:solidFill>
          <a:ln>
            <a:solidFill>
              <a:srgbClr val="468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092440" y="1993392"/>
            <a:ext cx="658368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55279" y="2697480"/>
            <a:ext cx="96012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300" b="1">
                <a:solidFill>
                  <a:srgbClr val="23372A"/>
                </a:solidFill>
                <a:latin typeface="Aptos"/>
              </a:rPr>
              <a:t>Track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99831" y="3063240"/>
            <a:ext cx="1261872" cy="56692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950" b="0">
                <a:solidFill>
                  <a:srgbClr val="67746C"/>
                </a:solidFill>
                <a:latin typeface="Aptos"/>
              </a:rPr>
              <a:t>Follow delivery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750808" y="2121408"/>
            <a:ext cx="1216152" cy="36576"/>
          </a:xfrm>
          <a:prstGeom prst="rect">
            <a:avLst/>
          </a:prstGeom>
          <a:solidFill>
            <a:srgbClr val="DAEE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9966960" y="1828800"/>
            <a:ext cx="658368" cy="658368"/>
          </a:xfrm>
          <a:prstGeom prst="ellipse">
            <a:avLst/>
          </a:prstGeom>
          <a:solidFill>
            <a:srgbClr val="46805B"/>
          </a:solidFill>
          <a:ln>
            <a:solidFill>
              <a:srgbClr val="468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966960" y="1993392"/>
            <a:ext cx="658368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29800" y="2697480"/>
            <a:ext cx="96012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300" b="1">
                <a:solidFill>
                  <a:srgbClr val="23372A"/>
                </a:solidFill>
                <a:latin typeface="Aptos"/>
              </a:rPr>
              <a:t>Receive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74352" y="3063240"/>
            <a:ext cx="1261872" cy="56692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950" b="0">
                <a:solidFill>
                  <a:srgbClr val="67746C"/>
                </a:solidFill>
                <a:latin typeface="Aptos"/>
              </a:rPr>
              <a:t>Get groceries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85800" y="4617720"/>
            <a:ext cx="28803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68680" y="4818888"/>
            <a:ext cx="9144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46805B"/>
                </a:solidFill>
                <a:latin typeface="Aptos"/>
              </a:rPr>
              <a:t>Goal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" y="5138928"/>
            <a:ext cx="246888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23372A"/>
                </a:solidFill>
                <a:latin typeface="Aptos"/>
              </a:rPr>
              <a:t>Buy essentials quickly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160520" y="4617720"/>
            <a:ext cx="28803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343400" y="4818888"/>
            <a:ext cx="9144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46805B"/>
                </a:solidFill>
                <a:latin typeface="Aptos"/>
              </a:rPr>
              <a:t>Emotion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43400" y="5138928"/>
            <a:ext cx="246888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23372A"/>
                </a:solidFill>
                <a:latin typeface="Aptos"/>
              </a:rPr>
              <a:t>Confident → relieved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635240" y="4617720"/>
            <a:ext cx="28803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818119" y="4818888"/>
            <a:ext cx="9144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46805B"/>
                </a:solidFill>
                <a:latin typeface="Aptos"/>
              </a:rPr>
              <a:t>Success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818119" y="5138928"/>
            <a:ext cx="246888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23372A"/>
                </a:solidFill>
                <a:latin typeface="Aptos"/>
              </a:rPr>
              <a:t>Accurate, on-time delivery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1792" y="6510528"/>
            <a:ext cx="502920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50" b="0">
                <a:solidFill>
                  <a:srgbClr val="67746C"/>
                </a:solidFill>
                <a:latin typeface="Aptos"/>
              </a:rPr>
              <a:t>Grocery Delivery • User Journey Map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804672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700" b="1">
                <a:solidFill>
                  <a:srgbClr val="23372A"/>
                </a:solidFill>
                <a:latin typeface="Aptos"/>
              </a:rPr>
              <a:t>2. User Persona &amp; Scenario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896112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50" b="0">
                <a:solidFill>
                  <a:srgbClr val="67746C"/>
                </a:solidFill>
                <a:latin typeface="Aptos"/>
              </a:rPr>
              <a:t>A simple scenario keeps the journey focused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438912"/>
            <a:ext cx="50292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100" b="1">
                <a:solidFill>
                  <a:srgbClr val="46805B"/>
                </a:solidFill>
                <a:latin typeface="Aptos"/>
              </a:rPr>
              <a:t>03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508760"/>
            <a:ext cx="365760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87552" y="1847088"/>
            <a:ext cx="960120" cy="960120"/>
          </a:xfrm>
          <a:prstGeom prst="ellipse">
            <a:avLst/>
          </a:prstGeom>
          <a:solidFill>
            <a:srgbClr val="DAEEDE"/>
          </a:solidFill>
          <a:ln>
            <a:solidFill>
              <a:srgbClr val="DAE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87552" y="2084831"/>
            <a:ext cx="96012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2400" b="1">
                <a:solidFill>
                  <a:srgbClr val="46805B"/>
                </a:solidFill>
                <a:latin typeface="Aptos"/>
              </a:rPr>
              <a:t>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48840" y="1938528"/>
            <a:ext cx="164592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200" b="1">
                <a:solidFill>
                  <a:srgbClr val="23372A"/>
                </a:solidFill>
                <a:latin typeface="Aptos"/>
              </a:rPr>
              <a:t>Meena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48840" y="2340864"/>
            <a:ext cx="173736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0">
                <a:solidFill>
                  <a:srgbClr val="67746C"/>
                </a:solidFill>
                <a:latin typeface="Aptos"/>
              </a:rPr>
              <a:t>College student • Busy schedule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2926080"/>
            <a:ext cx="9144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1">
                <a:solidFill>
                  <a:srgbClr val="46805B"/>
                </a:solidFill>
                <a:latin typeface="Aptos"/>
              </a:rPr>
              <a:t>Goal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6238" y="2926080"/>
            <a:ext cx="2866293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dirty="0">
                <a:solidFill>
                  <a:srgbClr val="23372A"/>
                </a:solidFill>
                <a:latin typeface="Aptos"/>
              </a:rPr>
              <a:t>Order daily essentials without visiting a store.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3657600"/>
            <a:ext cx="9144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1">
                <a:solidFill>
                  <a:srgbClr val="46805B"/>
                </a:solidFill>
                <a:latin typeface="Aptos"/>
              </a:rPr>
              <a:t>Need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26577" y="3657600"/>
            <a:ext cx="2305343" cy="4154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dirty="0">
                <a:solidFill>
                  <a:srgbClr val="23372A"/>
                </a:solidFill>
                <a:latin typeface="Aptos"/>
              </a:rPr>
              <a:t>Fast search, clear prices and reliable delivery.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7346" y="4389120"/>
            <a:ext cx="1154606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dirty="0">
                <a:solidFill>
                  <a:srgbClr val="46805B"/>
                </a:solidFill>
                <a:latin typeface="Aptos"/>
              </a:rPr>
              <a:t>Pain point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05708" y="4389120"/>
            <a:ext cx="2226212" cy="4154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dirty="0">
                <a:solidFill>
                  <a:srgbClr val="23372A"/>
                </a:solidFill>
                <a:latin typeface="Aptos"/>
              </a:rPr>
              <a:t>Out-of-stock items and unclear delivery updates.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00600" y="1508760"/>
            <a:ext cx="6675120" cy="4251960"/>
          </a:xfrm>
          <a:prstGeom prst="roundRect">
            <a:avLst/>
          </a:prstGeom>
          <a:solidFill>
            <a:srgbClr val="DAEEDE"/>
          </a:solidFill>
          <a:ln>
            <a:solidFill>
              <a:srgbClr val="DAE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212080" y="1828800"/>
            <a:ext cx="18288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1">
                <a:solidFill>
                  <a:srgbClr val="46805B"/>
                </a:solidFill>
                <a:latin typeface="Aptos"/>
              </a:rPr>
              <a:t>Scenario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80" y="2331720"/>
            <a:ext cx="5394960" cy="12344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1">
                <a:solidFill>
                  <a:srgbClr val="23372A"/>
                </a:solidFill>
                <a:latin typeface="Aptos"/>
              </a:rPr>
              <a:t>Meena needs vegetables, milk, rice and snacks.
She opens the grocery app, searches for products,
checks the cart, chooses a delivery slot and places the order.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80" y="3977639"/>
            <a:ext cx="22860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1">
                <a:solidFill>
                  <a:srgbClr val="46805B"/>
                </a:solidFill>
                <a:latin typeface="Aptos"/>
              </a:rPr>
              <a:t>Design opportunity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80" y="4389120"/>
            <a:ext cx="5303520" cy="5943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0">
                <a:solidFill>
                  <a:srgbClr val="23372A"/>
                </a:solidFill>
                <a:latin typeface="Aptos"/>
              </a:rPr>
              <a:t>Make every step visible, predictable and easy to recover from.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" y="6510528"/>
            <a:ext cx="502920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50" b="0">
                <a:solidFill>
                  <a:srgbClr val="67746C"/>
                </a:solidFill>
                <a:latin typeface="Aptos"/>
              </a:rPr>
              <a:t>Grocery Delivery • User Journey Map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804672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700" b="1">
                <a:solidFill>
                  <a:srgbClr val="23372A"/>
                </a:solidFill>
                <a:latin typeface="Aptos"/>
              </a:rPr>
              <a:t>3. Discover &amp; 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896112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50" b="0">
                <a:solidFill>
                  <a:srgbClr val="67746C"/>
                </a:solidFill>
                <a:latin typeface="Aptos"/>
              </a:rPr>
              <a:t>Stage 1–2: Help users find what they need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438912"/>
            <a:ext cx="50292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100" b="1">
                <a:solidFill>
                  <a:srgbClr val="46805B"/>
                </a:solidFill>
                <a:latin typeface="Aptos"/>
              </a:rPr>
              <a:t>04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8872" y="1681089"/>
            <a:ext cx="30175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41247" y="1737360"/>
            <a:ext cx="256032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1">
                <a:solidFill>
                  <a:srgbClr val="46805B"/>
                </a:solidFill>
                <a:latin typeface="Aptos"/>
              </a:rPr>
              <a:t>USER 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8872" y="2105582"/>
            <a:ext cx="3153427" cy="253916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50" b="1" dirty="0">
                <a:solidFill>
                  <a:srgbClr val="23372A"/>
                </a:solidFill>
                <a:latin typeface="Aptos"/>
              </a:rPr>
              <a:t>Open app → browse categories → search item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69080" y="1508760"/>
            <a:ext cx="30175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270248" y="1737360"/>
            <a:ext cx="256032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1">
                <a:solidFill>
                  <a:srgbClr val="46805B"/>
                </a:solidFill>
                <a:latin typeface="Aptos"/>
              </a:rPr>
              <a:t>THOUGHT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70248" y="2121408"/>
            <a:ext cx="2560320" cy="5943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1" dirty="0">
                <a:solidFill>
                  <a:srgbClr val="23372A"/>
                </a:solidFill>
                <a:latin typeface="Aptos"/>
              </a:rPr>
              <a:t>“I want to find my items quickly.”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79" y="1508760"/>
            <a:ext cx="30175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699248" y="1737360"/>
            <a:ext cx="256032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1">
                <a:solidFill>
                  <a:srgbClr val="46805B"/>
                </a:solidFill>
                <a:latin typeface="Aptos"/>
              </a:rPr>
              <a:t>EMOTION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99248" y="2121408"/>
            <a:ext cx="2560320" cy="5943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1" dirty="0">
                <a:solidFill>
                  <a:srgbClr val="23372A"/>
                </a:solidFill>
                <a:latin typeface="Aptos"/>
              </a:rPr>
              <a:t>Curious → focused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3401568"/>
            <a:ext cx="18288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23372A"/>
                </a:solidFill>
                <a:latin typeface="Aptos"/>
              </a:rPr>
              <a:t>Key touchpoints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" y="3886200"/>
            <a:ext cx="2240280" cy="1005840"/>
          </a:xfrm>
          <a:prstGeom prst="roundRect">
            <a:avLst/>
          </a:prstGeom>
          <a:solidFill>
            <a:srgbClr val="DAEEDE"/>
          </a:solidFill>
          <a:ln>
            <a:solidFill>
              <a:srgbClr val="DAE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77824" y="4096512"/>
            <a:ext cx="100584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1">
                <a:solidFill>
                  <a:srgbClr val="46805B"/>
                </a:solidFill>
                <a:latin typeface="Aptos"/>
              </a:rPr>
              <a:t>Home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" y="4407408"/>
            <a:ext cx="164592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0">
                <a:solidFill>
                  <a:srgbClr val="23372A"/>
                </a:solidFill>
                <a:latin typeface="Aptos"/>
              </a:rPr>
              <a:t>Categories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99232" y="4224528"/>
            <a:ext cx="32004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800" b="1">
                <a:solidFill>
                  <a:srgbClr val="E8B74E"/>
                </a:solidFill>
                <a:latin typeface="Aptos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56432" y="3886200"/>
            <a:ext cx="2240280" cy="1005840"/>
          </a:xfrm>
          <a:prstGeom prst="roundRect">
            <a:avLst/>
          </a:prstGeom>
          <a:solidFill>
            <a:srgbClr val="DAEEDE"/>
          </a:solidFill>
          <a:ln>
            <a:solidFill>
              <a:srgbClr val="DAE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621024" y="4096512"/>
            <a:ext cx="100584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1">
                <a:solidFill>
                  <a:srgbClr val="46805B"/>
                </a:solidFill>
                <a:latin typeface="Aptos"/>
              </a:rPr>
              <a:t>Search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21024" y="4407408"/>
            <a:ext cx="164592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0">
                <a:solidFill>
                  <a:srgbClr val="23372A"/>
                </a:solidFill>
                <a:latin typeface="Aptos"/>
              </a:rPr>
              <a:t>Suggestions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42432" y="4224528"/>
            <a:ext cx="32004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800" b="1">
                <a:solidFill>
                  <a:srgbClr val="E8B74E"/>
                </a:solidFill>
                <a:latin typeface="Aptos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99632" y="3886200"/>
            <a:ext cx="2240280" cy="1005840"/>
          </a:xfrm>
          <a:prstGeom prst="roundRect">
            <a:avLst/>
          </a:prstGeom>
          <a:solidFill>
            <a:srgbClr val="DAEEDE"/>
          </a:solidFill>
          <a:ln>
            <a:solidFill>
              <a:srgbClr val="DAE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64224" y="4096512"/>
            <a:ext cx="100584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1">
                <a:solidFill>
                  <a:srgbClr val="46805B"/>
                </a:solidFill>
                <a:latin typeface="Aptos"/>
              </a:rPr>
              <a:t>Results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64224" y="4407408"/>
            <a:ext cx="164592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0">
                <a:solidFill>
                  <a:srgbClr val="23372A"/>
                </a:solidFill>
                <a:latin typeface="Aptos"/>
              </a:rPr>
              <a:t>Filters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85632" y="4224528"/>
            <a:ext cx="32004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800" b="1">
                <a:solidFill>
                  <a:srgbClr val="E8B74E"/>
                </a:solidFill>
                <a:latin typeface="Aptos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942832" y="3886200"/>
            <a:ext cx="2240280" cy="1005840"/>
          </a:xfrm>
          <a:prstGeom prst="roundRect">
            <a:avLst/>
          </a:prstGeom>
          <a:solidFill>
            <a:srgbClr val="DAEEDE"/>
          </a:solidFill>
          <a:ln>
            <a:solidFill>
              <a:srgbClr val="DAE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107424" y="4096512"/>
            <a:ext cx="100584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1">
                <a:solidFill>
                  <a:srgbClr val="46805B"/>
                </a:solidFill>
                <a:latin typeface="Aptos"/>
              </a:rPr>
              <a:t>Product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07424" y="4407408"/>
            <a:ext cx="164592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0">
                <a:solidFill>
                  <a:srgbClr val="23372A"/>
                </a:solidFill>
                <a:latin typeface="Aptos"/>
              </a:rPr>
              <a:t>Details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13232" y="5349240"/>
            <a:ext cx="10241280" cy="658368"/>
          </a:xfrm>
          <a:prstGeom prst="roundRect">
            <a:avLst/>
          </a:prstGeom>
          <a:solidFill>
            <a:srgbClr val="FFF9EB"/>
          </a:solidFill>
          <a:ln>
            <a:solidFill>
              <a:srgbClr val="FFF9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14400" y="5550408"/>
            <a:ext cx="987552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100" b="1">
                <a:solidFill>
                  <a:srgbClr val="23372A"/>
                </a:solidFill>
                <a:latin typeface="Aptos"/>
              </a:rPr>
              <a:t>UX opportunity: use smart suggestions, clear categories and filters to reduce search effort.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" y="6510528"/>
            <a:ext cx="502920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50" b="0">
                <a:solidFill>
                  <a:srgbClr val="67746C"/>
                </a:solidFill>
                <a:latin typeface="Aptos"/>
              </a:rPr>
              <a:t>Grocery Delivery • User Journey Map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804672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700" b="1">
                <a:solidFill>
                  <a:srgbClr val="23372A"/>
                </a:solidFill>
                <a:latin typeface="Aptos"/>
              </a:rPr>
              <a:t>4. Select &amp; Checkout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896112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50" b="0">
                <a:solidFill>
                  <a:srgbClr val="67746C"/>
                </a:solidFill>
                <a:latin typeface="Aptos"/>
              </a:rPr>
              <a:t>Stage 3–4: Turn choices into a confident order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438912"/>
            <a:ext cx="50292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100" b="1">
                <a:solidFill>
                  <a:srgbClr val="46805B"/>
                </a:solidFill>
                <a:latin typeface="Aptos"/>
              </a:rPr>
              <a:t>05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508760"/>
            <a:ext cx="19659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61288" y="1755648"/>
            <a:ext cx="640080" cy="640080"/>
          </a:xfrm>
          <a:prstGeom prst="ellipse">
            <a:avLst/>
          </a:prstGeom>
          <a:solidFill>
            <a:srgbClr val="46805B"/>
          </a:solidFill>
          <a:ln>
            <a:solidFill>
              <a:srgbClr val="468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61288" y="1947672"/>
            <a:ext cx="64008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2578608"/>
            <a:ext cx="164592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000" b="1">
                <a:solidFill>
                  <a:srgbClr val="46805B"/>
                </a:solidFill>
                <a:latin typeface="Aptos"/>
              </a:rPr>
              <a:t>ADD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2907792"/>
            <a:ext cx="164592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100" b="1">
                <a:solidFill>
                  <a:srgbClr val="23372A"/>
                </a:solidFill>
                <a:latin typeface="Aptos"/>
              </a:rPr>
              <a:t>Add products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3246120"/>
            <a:ext cx="164592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950" b="0">
                <a:solidFill>
                  <a:srgbClr val="67746C"/>
                </a:solidFill>
                <a:latin typeface="Aptos"/>
              </a:rPr>
              <a:t>😊 Easy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34639" y="1508760"/>
            <a:ext cx="19659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3493007" y="1755648"/>
            <a:ext cx="640080" cy="640080"/>
          </a:xfrm>
          <a:prstGeom prst="ellipse">
            <a:avLst/>
          </a:prstGeom>
          <a:solidFill>
            <a:srgbClr val="46805B"/>
          </a:solidFill>
          <a:ln>
            <a:solidFill>
              <a:srgbClr val="468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493007" y="1947672"/>
            <a:ext cx="64008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99232" y="2578608"/>
            <a:ext cx="164592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000" b="1">
                <a:solidFill>
                  <a:srgbClr val="46805B"/>
                </a:solidFill>
                <a:latin typeface="Aptos"/>
              </a:rPr>
              <a:t>REVIEW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99232" y="2907792"/>
            <a:ext cx="164592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100" b="1">
                <a:solidFill>
                  <a:srgbClr val="23372A"/>
                </a:solidFill>
                <a:latin typeface="Aptos"/>
              </a:rPr>
              <a:t>Check cart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99232" y="3246120"/>
            <a:ext cx="164592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950" b="0">
                <a:solidFill>
                  <a:srgbClr val="67746C"/>
                </a:solidFill>
                <a:latin typeface="Aptos"/>
              </a:rPr>
              <a:t>🙂 Confident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66359" y="1508760"/>
            <a:ext cx="19659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5824727" y="1755648"/>
            <a:ext cx="640080" cy="640080"/>
          </a:xfrm>
          <a:prstGeom prst="ellipse">
            <a:avLst/>
          </a:prstGeom>
          <a:solidFill>
            <a:srgbClr val="46805B"/>
          </a:solidFill>
          <a:ln>
            <a:solidFill>
              <a:srgbClr val="468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824727" y="1947672"/>
            <a:ext cx="64008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30951" y="2578608"/>
            <a:ext cx="164592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000" b="1">
                <a:solidFill>
                  <a:srgbClr val="46805B"/>
                </a:solidFill>
                <a:latin typeface="Aptos"/>
              </a:rPr>
              <a:t>ADDRESS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30951" y="2907792"/>
            <a:ext cx="164592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100" b="1">
                <a:solidFill>
                  <a:srgbClr val="23372A"/>
                </a:solidFill>
                <a:latin typeface="Aptos"/>
              </a:rPr>
              <a:t>Choose address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30951" y="3246120"/>
            <a:ext cx="164592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950" b="0">
                <a:solidFill>
                  <a:srgbClr val="67746C"/>
                </a:solidFill>
                <a:latin typeface="Aptos"/>
              </a:rPr>
              <a:t>😐 Careful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98079" y="1508760"/>
            <a:ext cx="19659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8156448" y="1755648"/>
            <a:ext cx="640080" cy="640080"/>
          </a:xfrm>
          <a:prstGeom prst="ellipse">
            <a:avLst/>
          </a:prstGeom>
          <a:solidFill>
            <a:srgbClr val="46805B"/>
          </a:solidFill>
          <a:ln>
            <a:solidFill>
              <a:srgbClr val="468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156448" y="1947672"/>
            <a:ext cx="64008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62671" y="2578608"/>
            <a:ext cx="164592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000" b="1">
                <a:solidFill>
                  <a:srgbClr val="46805B"/>
                </a:solidFill>
                <a:latin typeface="Aptos"/>
              </a:rPr>
              <a:t>PAY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62671" y="2907792"/>
            <a:ext cx="164592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100" b="1">
                <a:solidFill>
                  <a:srgbClr val="23372A"/>
                </a:solidFill>
                <a:latin typeface="Aptos"/>
              </a:rPr>
              <a:t>Select payment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62671" y="3246120"/>
            <a:ext cx="164592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950" b="0">
                <a:solidFill>
                  <a:srgbClr val="67746C"/>
                </a:solidFill>
                <a:latin typeface="Aptos"/>
              </a:rPr>
              <a:t>🙂 Reassured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829800" y="1508760"/>
            <a:ext cx="19659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10488168" y="1755648"/>
            <a:ext cx="640080" cy="640080"/>
          </a:xfrm>
          <a:prstGeom prst="ellipse">
            <a:avLst/>
          </a:prstGeom>
          <a:solidFill>
            <a:srgbClr val="46805B"/>
          </a:solidFill>
          <a:ln>
            <a:solidFill>
              <a:srgbClr val="468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488168" y="1947672"/>
            <a:ext cx="64008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94392" y="2578608"/>
            <a:ext cx="164592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000" b="1">
                <a:solidFill>
                  <a:srgbClr val="46805B"/>
                </a:solidFill>
                <a:latin typeface="Aptos"/>
              </a:rPr>
              <a:t>CONFIRM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94392" y="2907792"/>
            <a:ext cx="164592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100" b="1">
                <a:solidFill>
                  <a:srgbClr val="23372A"/>
                </a:solidFill>
                <a:latin typeface="Aptos"/>
              </a:rPr>
              <a:t>Place order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94392" y="3246120"/>
            <a:ext cx="164592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950" b="0">
                <a:solidFill>
                  <a:srgbClr val="67746C"/>
                </a:solidFill>
                <a:latin typeface="Aptos"/>
              </a:rPr>
              <a:t>🎉 Excited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3977639"/>
            <a:ext cx="27432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23372A"/>
                </a:solidFill>
                <a:latin typeface="Aptos"/>
              </a:rPr>
              <a:t>Pain points to prevent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13232" y="4480560"/>
            <a:ext cx="3063240" cy="822960"/>
          </a:xfrm>
          <a:prstGeom prst="roundRect">
            <a:avLst/>
          </a:prstGeom>
          <a:solidFill>
            <a:srgbClr val="FFF9EB"/>
          </a:solidFill>
          <a:ln>
            <a:solidFill>
              <a:srgbClr val="FFF9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96112" y="4754880"/>
            <a:ext cx="269748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23372A"/>
                </a:solidFill>
                <a:latin typeface="Aptos"/>
              </a:rPr>
              <a:t>• Unexpected fees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233672" y="4480560"/>
            <a:ext cx="3063240" cy="822960"/>
          </a:xfrm>
          <a:prstGeom prst="roundRect">
            <a:avLst/>
          </a:prstGeom>
          <a:solidFill>
            <a:srgbClr val="FFF9EB"/>
          </a:solidFill>
          <a:ln>
            <a:solidFill>
              <a:srgbClr val="FFF9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416552" y="4754880"/>
            <a:ext cx="269748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23372A"/>
                </a:solidFill>
                <a:latin typeface="Aptos"/>
              </a:rPr>
              <a:t>• Hidden delivery slot rules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754112" y="4480560"/>
            <a:ext cx="3063240" cy="822960"/>
          </a:xfrm>
          <a:prstGeom prst="roundRect">
            <a:avLst/>
          </a:prstGeom>
          <a:solidFill>
            <a:srgbClr val="FFF9EB"/>
          </a:solidFill>
          <a:ln>
            <a:solidFill>
              <a:srgbClr val="FFF9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936992" y="4754880"/>
            <a:ext cx="269748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23372A"/>
                </a:solidFill>
                <a:latin typeface="Aptos"/>
              </a:rPr>
              <a:t>• Unclear stock changes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13232" y="5532120"/>
            <a:ext cx="10469880" cy="594360"/>
          </a:xfrm>
          <a:prstGeom prst="roundRect">
            <a:avLst/>
          </a:prstGeom>
          <a:solidFill>
            <a:srgbClr val="46805B"/>
          </a:solidFill>
          <a:ln>
            <a:solidFill>
              <a:srgbClr val="468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14400" y="5715000"/>
            <a:ext cx="1005840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Best practice: show total cost + delivery time before the final confirmation.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1792" y="6510528"/>
            <a:ext cx="502920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50" b="0">
                <a:solidFill>
                  <a:srgbClr val="67746C"/>
                </a:solidFill>
                <a:latin typeface="Aptos"/>
              </a:rPr>
              <a:t>Grocery Delivery • User Journey Map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804672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700" b="1">
                <a:solidFill>
                  <a:srgbClr val="23372A"/>
                </a:solidFill>
                <a:latin typeface="Aptos"/>
              </a:rPr>
              <a:t>5. Track &amp; Receive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896112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50" b="0">
                <a:solidFill>
                  <a:srgbClr val="67746C"/>
                </a:solidFill>
                <a:latin typeface="Aptos"/>
              </a:rPr>
              <a:t>Stage 5–6: Reduce uncertainty after payment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438912"/>
            <a:ext cx="50292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100" b="1">
                <a:solidFill>
                  <a:srgbClr val="46805B"/>
                </a:solidFill>
                <a:latin typeface="Aptos"/>
              </a:rPr>
              <a:t>06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3886200" cy="4480560"/>
          </a:xfrm>
          <a:prstGeom prst="roundRect">
            <a:avLst/>
          </a:prstGeom>
          <a:solidFill>
            <a:srgbClr val="23372A"/>
          </a:solidFill>
          <a:ln>
            <a:solidFill>
              <a:srgbClr val="233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755648"/>
            <a:ext cx="210312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Order #FC2048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139696"/>
            <a:ext cx="265176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0">
                <a:solidFill>
                  <a:srgbClr val="D0E0D3"/>
                </a:solidFill>
                <a:latin typeface="Aptos"/>
              </a:rPr>
              <a:t>Arriving today • 25–35 min</a:t>
            </a:r>
          </a:p>
        </p:txBody>
      </p:sp>
      <p:sp>
        <p:nvSpPr>
          <p:cNvPr id="8" name="Oval 7"/>
          <p:cNvSpPr/>
          <p:nvPr/>
        </p:nvSpPr>
        <p:spPr>
          <a:xfrm>
            <a:off x="1005840" y="2788920"/>
            <a:ext cx="384048" cy="384048"/>
          </a:xfrm>
          <a:prstGeom prst="ellipse">
            <a:avLst/>
          </a:prstGeom>
          <a:solidFill>
            <a:srgbClr val="46805B"/>
          </a:solidFill>
          <a:ln>
            <a:solidFill>
              <a:srgbClr val="468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2862072"/>
            <a:ext cx="384048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2862072"/>
            <a:ext cx="205740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Order confirmed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79576" y="3172968"/>
            <a:ext cx="36576" cy="274320"/>
          </a:xfrm>
          <a:prstGeom prst="rect">
            <a:avLst/>
          </a:prstGeom>
          <a:solidFill>
            <a:srgbClr val="468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005840" y="3447287"/>
            <a:ext cx="384048" cy="384048"/>
          </a:xfrm>
          <a:prstGeom prst="ellipse">
            <a:avLst/>
          </a:prstGeom>
          <a:solidFill>
            <a:srgbClr val="46805B"/>
          </a:solidFill>
          <a:ln>
            <a:solidFill>
              <a:srgbClr val="468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05840" y="3520439"/>
            <a:ext cx="384048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3520439"/>
            <a:ext cx="205740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Packed at store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79576" y="3831335"/>
            <a:ext cx="36576" cy="274320"/>
          </a:xfrm>
          <a:prstGeom prst="rect">
            <a:avLst/>
          </a:prstGeom>
          <a:solidFill>
            <a:srgbClr val="468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005840" y="4105656"/>
            <a:ext cx="384048" cy="384048"/>
          </a:xfrm>
          <a:prstGeom prst="ellipse">
            <a:avLst/>
          </a:prstGeom>
          <a:solidFill>
            <a:srgbClr val="46805B"/>
          </a:solidFill>
          <a:ln>
            <a:solidFill>
              <a:srgbClr val="468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05840" y="4178808"/>
            <a:ext cx="384048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4178808"/>
            <a:ext cx="205740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Out for delivery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79576" y="4489704"/>
            <a:ext cx="36576" cy="274320"/>
          </a:xfrm>
          <a:prstGeom prst="rect">
            <a:avLst/>
          </a:prstGeom>
          <a:solidFill>
            <a:srgbClr val="468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005840" y="4764024"/>
            <a:ext cx="384048" cy="384048"/>
          </a:xfrm>
          <a:prstGeom prst="ellipse">
            <a:avLst/>
          </a:prstGeom>
          <a:solidFill>
            <a:srgbClr val="67746C"/>
          </a:solidFill>
          <a:ln>
            <a:solidFill>
              <a:srgbClr val="6774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05840" y="4837176"/>
            <a:ext cx="384048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4837176"/>
            <a:ext cx="205740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Delivered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74920" y="1508760"/>
            <a:ext cx="256032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1">
                <a:solidFill>
                  <a:srgbClr val="23372A"/>
                </a:solidFill>
                <a:latin typeface="Aptos"/>
              </a:rPr>
              <a:t>Experience layers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74920" y="2057400"/>
            <a:ext cx="58978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321808" y="2240280"/>
            <a:ext cx="11430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46805B"/>
                </a:solidFill>
                <a:latin typeface="Aptos"/>
              </a:rPr>
              <a:t>Functional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2240280"/>
            <a:ext cx="416052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23372A"/>
                </a:solidFill>
                <a:latin typeface="Aptos"/>
              </a:rPr>
              <a:t>Live status, ETA, notifications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74920" y="3172968"/>
            <a:ext cx="58978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321808" y="3355848"/>
            <a:ext cx="11430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46805B"/>
                </a:solidFill>
                <a:latin typeface="Aptos"/>
              </a:rPr>
              <a:t>Emotional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3355848"/>
            <a:ext cx="416052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23372A"/>
                </a:solidFill>
                <a:latin typeface="Aptos"/>
              </a:rPr>
              <a:t>Reassurance and control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74920" y="4288536"/>
            <a:ext cx="58978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321808" y="4471416"/>
            <a:ext cx="114300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46805B"/>
                </a:solidFill>
                <a:latin typeface="Aptos"/>
              </a:rPr>
              <a:t>Recovery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4471416"/>
            <a:ext cx="416052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23372A"/>
                </a:solidFill>
                <a:latin typeface="Aptos"/>
              </a:rPr>
              <a:t>Contact support if delayed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74920" y="5468112"/>
            <a:ext cx="5897880" cy="502920"/>
          </a:xfrm>
          <a:prstGeom prst="roundRect">
            <a:avLst/>
          </a:prstGeom>
          <a:solidFill>
            <a:srgbClr val="DAEEDE"/>
          </a:solidFill>
          <a:ln>
            <a:solidFill>
              <a:srgbClr val="DAE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257800" y="5623560"/>
            <a:ext cx="548640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050" b="1">
                <a:solidFill>
                  <a:srgbClr val="23372A"/>
                </a:solidFill>
                <a:latin typeface="Aptos"/>
              </a:rPr>
              <a:t>Success moment: groceries arrive as promised.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792" y="6510528"/>
            <a:ext cx="502920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50" b="0">
                <a:solidFill>
                  <a:srgbClr val="67746C"/>
                </a:solidFill>
                <a:latin typeface="Aptos"/>
              </a:rPr>
              <a:t>Grocery Delivery • User Journey Map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804672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700" b="1">
                <a:solidFill>
                  <a:srgbClr val="23372A"/>
                </a:solidFill>
                <a:latin typeface="Aptos"/>
              </a:rPr>
              <a:t>6. Emotion Curve &amp; UX Opportunities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896112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50" b="0">
                <a:solidFill>
                  <a:srgbClr val="67746C"/>
                </a:solidFill>
                <a:latin typeface="Aptos"/>
              </a:rPr>
              <a:t>Find where the experience can feel easier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438912"/>
            <a:ext cx="50292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100" b="1">
                <a:solidFill>
                  <a:srgbClr val="46805B"/>
                </a:solidFill>
                <a:latin typeface="Aptos"/>
              </a:rPr>
              <a:t>07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417320"/>
            <a:ext cx="667512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18288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23372A"/>
                </a:solidFill>
                <a:latin typeface="Aptos"/>
              </a:rPr>
              <a:t>Emotional journey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5166360"/>
            <a:ext cx="5577840" cy="22860"/>
          </a:xfrm>
          <a:prstGeom prst="rect">
            <a:avLst/>
          </a:prstGeom>
          <a:solidFill>
            <a:srgbClr val="6774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143000" y="2240280"/>
            <a:ext cx="22860" cy="2926080"/>
          </a:xfrm>
          <a:prstGeom prst="rect">
            <a:avLst/>
          </a:prstGeom>
          <a:solidFill>
            <a:srgbClr val="6774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371600" y="4251960"/>
            <a:ext cx="1105819" cy="32004"/>
          </a:xfrm>
          <a:prstGeom prst="rect">
            <a:avLst/>
          </a:prstGeom>
          <a:solidFill>
            <a:srgbClr val="468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331720" y="3703320"/>
            <a:ext cx="1044579" cy="32004"/>
          </a:xfrm>
          <a:prstGeom prst="rect">
            <a:avLst/>
          </a:prstGeom>
          <a:solidFill>
            <a:srgbClr val="468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291840" y="3291840"/>
            <a:ext cx="1083862" cy="32004"/>
          </a:xfrm>
          <a:prstGeom prst="rect">
            <a:avLst/>
          </a:prstGeom>
          <a:solidFill>
            <a:srgbClr val="468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251960" y="3794760"/>
            <a:ext cx="1325880" cy="32004"/>
          </a:xfrm>
          <a:prstGeom prst="rect">
            <a:avLst/>
          </a:prstGeom>
          <a:solidFill>
            <a:srgbClr val="468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212080" y="2880360"/>
            <a:ext cx="1044579" cy="32004"/>
          </a:xfrm>
          <a:prstGeom prst="rect">
            <a:avLst/>
          </a:prstGeom>
          <a:solidFill>
            <a:srgbClr val="468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280160" y="4160520"/>
            <a:ext cx="201168" cy="201168"/>
          </a:xfrm>
          <a:prstGeom prst="ellipse">
            <a:avLst/>
          </a:prstGeom>
          <a:solidFill>
            <a:srgbClr val="46805B"/>
          </a:solidFill>
          <a:ln>
            <a:solidFill>
              <a:srgbClr val="468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51560" y="5285232"/>
            <a:ext cx="64008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850" b="0">
                <a:solidFill>
                  <a:srgbClr val="67746C"/>
                </a:solidFill>
                <a:latin typeface="Aptos"/>
              </a:rPr>
              <a:t>Discover</a:t>
            </a:r>
          </a:p>
        </p:txBody>
      </p:sp>
      <p:sp>
        <p:nvSpPr>
          <p:cNvPr id="16" name="Oval 15"/>
          <p:cNvSpPr/>
          <p:nvPr/>
        </p:nvSpPr>
        <p:spPr>
          <a:xfrm>
            <a:off x="2240279" y="3611879"/>
            <a:ext cx="201168" cy="201168"/>
          </a:xfrm>
          <a:prstGeom prst="ellipse">
            <a:avLst/>
          </a:prstGeom>
          <a:solidFill>
            <a:srgbClr val="46805B"/>
          </a:solidFill>
          <a:ln>
            <a:solidFill>
              <a:srgbClr val="468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011679" y="5285232"/>
            <a:ext cx="64008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850" b="0">
                <a:solidFill>
                  <a:srgbClr val="67746C"/>
                </a:solidFill>
                <a:latin typeface="Aptos"/>
              </a:rPr>
              <a:t>Search</a:t>
            </a:r>
          </a:p>
        </p:txBody>
      </p:sp>
      <p:sp>
        <p:nvSpPr>
          <p:cNvPr id="18" name="Oval 17"/>
          <p:cNvSpPr/>
          <p:nvPr/>
        </p:nvSpPr>
        <p:spPr>
          <a:xfrm>
            <a:off x="3200400" y="3200400"/>
            <a:ext cx="201168" cy="201168"/>
          </a:xfrm>
          <a:prstGeom prst="ellipse">
            <a:avLst/>
          </a:prstGeom>
          <a:solidFill>
            <a:srgbClr val="46805B"/>
          </a:solidFill>
          <a:ln>
            <a:solidFill>
              <a:srgbClr val="468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971800" y="5285232"/>
            <a:ext cx="64008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850" b="0">
                <a:solidFill>
                  <a:srgbClr val="67746C"/>
                </a:solidFill>
                <a:latin typeface="Aptos"/>
              </a:rPr>
              <a:t>Select</a:t>
            </a:r>
          </a:p>
        </p:txBody>
      </p:sp>
      <p:sp>
        <p:nvSpPr>
          <p:cNvPr id="20" name="Oval 19"/>
          <p:cNvSpPr/>
          <p:nvPr/>
        </p:nvSpPr>
        <p:spPr>
          <a:xfrm>
            <a:off x="4160520" y="3703320"/>
            <a:ext cx="201168" cy="201168"/>
          </a:xfrm>
          <a:prstGeom prst="ellipse">
            <a:avLst/>
          </a:prstGeom>
          <a:solidFill>
            <a:srgbClr val="46805B"/>
          </a:solidFill>
          <a:ln>
            <a:solidFill>
              <a:srgbClr val="468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931920" y="5285232"/>
            <a:ext cx="64008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850" b="0">
                <a:solidFill>
                  <a:srgbClr val="67746C"/>
                </a:solidFill>
                <a:latin typeface="Aptos"/>
              </a:rPr>
              <a:t>Checkout</a:t>
            </a:r>
          </a:p>
        </p:txBody>
      </p:sp>
      <p:sp>
        <p:nvSpPr>
          <p:cNvPr id="22" name="Oval 21"/>
          <p:cNvSpPr/>
          <p:nvPr/>
        </p:nvSpPr>
        <p:spPr>
          <a:xfrm>
            <a:off x="5120640" y="2788920"/>
            <a:ext cx="201168" cy="201168"/>
          </a:xfrm>
          <a:prstGeom prst="ellipse">
            <a:avLst/>
          </a:prstGeom>
          <a:solidFill>
            <a:srgbClr val="46805B"/>
          </a:solidFill>
          <a:ln>
            <a:solidFill>
              <a:srgbClr val="468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892040" y="5285232"/>
            <a:ext cx="64008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850" b="0">
                <a:solidFill>
                  <a:srgbClr val="67746C"/>
                </a:solidFill>
                <a:latin typeface="Aptos"/>
              </a:rPr>
              <a:t>Track</a:t>
            </a:r>
          </a:p>
        </p:txBody>
      </p:sp>
      <p:sp>
        <p:nvSpPr>
          <p:cNvPr id="24" name="Oval 23"/>
          <p:cNvSpPr/>
          <p:nvPr/>
        </p:nvSpPr>
        <p:spPr>
          <a:xfrm>
            <a:off x="6080760" y="2377440"/>
            <a:ext cx="201168" cy="201168"/>
          </a:xfrm>
          <a:prstGeom prst="ellipse">
            <a:avLst/>
          </a:prstGeom>
          <a:solidFill>
            <a:srgbClr val="46805B"/>
          </a:solidFill>
          <a:ln>
            <a:solidFill>
              <a:srgbClr val="468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852160" y="5285232"/>
            <a:ext cx="64008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850" b="0">
                <a:solidFill>
                  <a:srgbClr val="67746C"/>
                </a:solidFill>
                <a:latin typeface="Aptos"/>
              </a:rPr>
              <a:t>Receive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5532120"/>
            <a:ext cx="128016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50" b="0">
                <a:solidFill>
                  <a:srgbClr val="67746C"/>
                </a:solidFill>
                <a:latin typeface="Aptos"/>
              </a:rPr>
              <a:t>↓ lower confidence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18120" y="1508760"/>
            <a:ext cx="292608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1">
                <a:solidFill>
                  <a:srgbClr val="23372A"/>
                </a:solidFill>
                <a:latin typeface="Aptos"/>
              </a:rPr>
              <a:t>Priority improvements</a:t>
            </a:r>
          </a:p>
        </p:txBody>
      </p:sp>
      <p:sp>
        <p:nvSpPr>
          <p:cNvPr id="28" name="Oval 27"/>
          <p:cNvSpPr/>
          <p:nvPr/>
        </p:nvSpPr>
        <p:spPr>
          <a:xfrm>
            <a:off x="7818120" y="2057400"/>
            <a:ext cx="384048" cy="384048"/>
          </a:xfrm>
          <a:prstGeom prst="ellipse">
            <a:avLst/>
          </a:prstGeom>
          <a:solidFill>
            <a:srgbClr val="DAEEDE"/>
          </a:solidFill>
          <a:ln>
            <a:solidFill>
              <a:srgbClr val="DAE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818120" y="2148840"/>
            <a:ext cx="384048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850" b="1">
                <a:solidFill>
                  <a:srgbClr val="46805B"/>
                </a:solidFill>
                <a:latin typeface="Aptos"/>
              </a:rPr>
              <a:t>01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60" y="2039112"/>
            <a:ext cx="2377440" cy="21031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23372A"/>
                </a:solidFill>
                <a:latin typeface="Aptos"/>
              </a:rPr>
              <a:t>Faster search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66760" y="2313432"/>
            <a:ext cx="274320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950" b="0">
                <a:solidFill>
                  <a:srgbClr val="67746C"/>
                </a:solidFill>
                <a:latin typeface="Aptos"/>
              </a:rPr>
              <a:t>Suggestions + filters</a:t>
            </a:r>
          </a:p>
        </p:txBody>
      </p:sp>
      <p:sp>
        <p:nvSpPr>
          <p:cNvPr id="32" name="Oval 31"/>
          <p:cNvSpPr/>
          <p:nvPr/>
        </p:nvSpPr>
        <p:spPr>
          <a:xfrm>
            <a:off x="7818120" y="2953512"/>
            <a:ext cx="384048" cy="384048"/>
          </a:xfrm>
          <a:prstGeom prst="ellipse">
            <a:avLst/>
          </a:prstGeom>
          <a:solidFill>
            <a:srgbClr val="DAEEDE"/>
          </a:solidFill>
          <a:ln>
            <a:solidFill>
              <a:srgbClr val="DAE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818120" y="3044952"/>
            <a:ext cx="384048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850" b="1">
                <a:solidFill>
                  <a:srgbClr val="46805B"/>
                </a:solidFill>
                <a:latin typeface="Aptos"/>
              </a:rPr>
              <a:t>02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66760" y="2935224"/>
            <a:ext cx="2377440" cy="21031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23372A"/>
                </a:solidFill>
                <a:latin typeface="Aptos"/>
              </a:rPr>
              <a:t>Clear checkout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66760" y="3209544"/>
            <a:ext cx="274320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950" b="0">
                <a:solidFill>
                  <a:srgbClr val="67746C"/>
                </a:solidFill>
                <a:latin typeface="Aptos"/>
              </a:rPr>
              <a:t>Total price + ETA</a:t>
            </a:r>
          </a:p>
        </p:txBody>
      </p:sp>
      <p:sp>
        <p:nvSpPr>
          <p:cNvPr id="36" name="Oval 35"/>
          <p:cNvSpPr/>
          <p:nvPr/>
        </p:nvSpPr>
        <p:spPr>
          <a:xfrm>
            <a:off x="7818120" y="3849624"/>
            <a:ext cx="384048" cy="384048"/>
          </a:xfrm>
          <a:prstGeom prst="ellipse">
            <a:avLst/>
          </a:prstGeom>
          <a:solidFill>
            <a:srgbClr val="DAEEDE"/>
          </a:solidFill>
          <a:ln>
            <a:solidFill>
              <a:srgbClr val="DAE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818120" y="3941063"/>
            <a:ext cx="384048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850" b="1">
                <a:solidFill>
                  <a:srgbClr val="46805B"/>
                </a:solidFill>
                <a:latin typeface="Aptos"/>
              </a:rPr>
              <a:t>03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66760" y="3831336"/>
            <a:ext cx="2377440" cy="21031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23372A"/>
                </a:solidFill>
                <a:latin typeface="Aptos"/>
              </a:rPr>
              <a:t>Reliable tracking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66760" y="4105656"/>
            <a:ext cx="274320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950" b="0">
                <a:solidFill>
                  <a:srgbClr val="67746C"/>
                </a:solidFill>
                <a:latin typeface="Aptos"/>
              </a:rPr>
              <a:t>Live status + alerts</a:t>
            </a:r>
          </a:p>
        </p:txBody>
      </p:sp>
      <p:sp>
        <p:nvSpPr>
          <p:cNvPr id="40" name="Oval 39"/>
          <p:cNvSpPr/>
          <p:nvPr/>
        </p:nvSpPr>
        <p:spPr>
          <a:xfrm>
            <a:off x="7818120" y="4745736"/>
            <a:ext cx="384048" cy="384048"/>
          </a:xfrm>
          <a:prstGeom prst="ellipse">
            <a:avLst/>
          </a:prstGeom>
          <a:solidFill>
            <a:srgbClr val="DAEEDE"/>
          </a:solidFill>
          <a:ln>
            <a:solidFill>
              <a:srgbClr val="DAE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818120" y="4837175"/>
            <a:ext cx="384048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850" b="1">
                <a:solidFill>
                  <a:srgbClr val="46805B"/>
                </a:solidFill>
                <a:latin typeface="Aptos"/>
              </a:rPr>
              <a:t>04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66760" y="4727448"/>
            <a:ext cx="2377440" cy="21031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23372A"/>
                </a:solidFill>
                <a:latin typeface="Aptos"/>
              </a:rPr>
              <a:t>Easy recovery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66760" y="5001768"/>
            <a:ext cx="274320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950" b="0">
                <a:solidFill>
                  <a:srgbClr val="67746C"/>
                </a:solidFill>
                <a:latin typeface="Aptos"/>
              </a:rPr>
              <a:t>Support + substitutions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1792" y="6510528"/>
            <a:ext cx="502920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50" b="0">
                <a:solidFill>
                  <a:srgbClr val="67746C"/>
                </a:solidFill>
                <a:latin typeface="Aptos"/>
              </a:rPr>
              <a:t>Grocery Delivery • User Journey Map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3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804672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700" b="1">
                <a:solidFill>
                  <a:srgbClr val="23372A"/>
                </a:solidFill>
                <a:latin typeface="Aptos"/>
              </a:rPr>
              <a:t>7.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896112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50" b="0">
                <a:solidFill>
                  <a:srgbClr val="67746C"/>
                </a:solidFill>
                <a:latin typeface="Aptos"/>
              </a:rPr>
              <a:t>A better journey is simple, transparent and reassuring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438912"/>
            <a:ext cx="50292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100" b="1">
                <a:solidFill>
                  <a:srgbClr val="46805B"/>
                </a:solidFill>
                <a:latin typeface="Aptos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41148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Aptos"/>
              </a:rPr>
              <a:t>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7158" y="1481328"/>
            <a:ext cx="10558724" cy="461665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b="1" dirty="0">
                <a:solidFill>
                  <a:srgbClr val="FFFFFF"/>
                </a:solidFill>
                <a:latin typeface="Aptos"/>
              </a:rPr>
              <a:t>A grocery app succeeds when users can move from need → order → delivery with confidence</a:t>
            </a:r>
            <a:r>
              <a:rPr sz="2400" b="1" dirty="0">
                <a:solidFill>
                  <a:srgbClr val="FFFFFF"/>
                </a:solidFill>
                <a:latin typeface="Aptos"/>
              </a:rPr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43200"/>
            <a:ext cx="3246120" cy="1874519"/>
          </a:xfrm>
          <a:prstGeom prst="roundRect">
            <a:avLst/>
          </a:prstGeom>
          <a:solidFill>
            <a:srgbClr val="DAEEDE"/>
          </a:solidFill>
          <a:ln>
            <a:solidFill>
              <a:srgbClr val="DAE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960120" y="3017520"/>
            <a:ext cx="502920" cy="502920"/>
          </a:xfrm>
          <a:prstGeom prst="ellipse">
            <a:avLst/>
          </a:prstGeom>
          <a:solidFill>
            <a:srgbClr val="E8B74E"/>
          </a:solidFill>
          <a:ln>
            <a:solidFill>
              <a:srgbClr val="E8B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3163824"/>
            <a:ext cx="502920" cy="15544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900" b="1">
                <a:solidFill>
                  <a:srgbClr val="23372A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2999232"/>
            <a:ext cx="192024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1">
                <a:solidFill>
                  <a:srgbClr val="46805B"/>
                </a:solidFill>
                <a:latin typeface="Aptos"/>
              </a:rPr>
              <a:t>SIMPLE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611880"/>
            <a:ext cx="2606040" cy="5486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23372A"/>
                </a:solidFill>
                <a:latin typeface="Aptos"/>
              </a:rPr>
              <a:t>Reduce steps and search effort.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26280" y="2743200"/>
            <a:ext cx="3246120" cy="1874519"/>
          </a:xfrm>
          <a:prstGeom prst="roundRect">
            <a:avLst/>
          </a:prstGeom>
          <a:solidFill>
            <a:srgbClr val="DAEEDE"/>
          </a:solidFill>
          <a:ln>
            <a:solidFill>
              <a:srgbClr val="DAE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754880" y="3017520"/>
            <a:ext cx="502920" cy="502920"/>
          </a:xfrm>
          <a:prstGeom prst="ellipse">
            <a:avLst/>
          </a:prstGeom>
          <a:solidFill>
            <a:srgbClr val="E8B74E"/>
          </a:solidFill>
          <a:ln>
            <a:solidFill>
              <a:srgbClr val="E8B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54880" y="3163824"/>
            <a:ext cx="502920" cy="15544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900" b="1">
                <a:solidFill>
                  <a:srgbClr val="23372A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94960" y="2999232"/>
            <a:ext cx="192024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1">
                <a:solidFill>
                  <a:srgbClr val="46805B"/>
                </a:solidFill>
                <a:latin typeface="Aptos"/>
              </a:rPr>
              <a:t>CLEAR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3611880"/>
            <a:ext cx="2606040" cy="5486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23372A"/>
                </a:solidFill>
                <a:latin typeface="Aptos"/>
              </a:rPr>
              <a:t>Show prices, stock and delivery time.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21040" y="2743200"/>
            <a:ext cx="3246120" cy="1874519"/>
          </a:xfrm>
          <a:prstGeom prst="roundRect">
            <a:avLst/>
          </a:prstGeom>
          <a:solidFill>
            <a:srgbClr val="DAEEDE"/>
          </a:solidFill>
          <a:ln>
            <a:solidFill>
              <a:srgbClr val="DAE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549640" y="3017520"/>
            <a:ext cx="502920" cy="502920"/>
          </a:xfrm>
          <a:prstGeom prst="ellipse">
            <a:avLst/>
          </a:prstGeom>
          <a:solidFill>
            <a:srgbClr val="E8B74E"/>
          </a:solidFill>
          <a:ln>
            <a:solidFill>
              <a:srgbClr val="E8B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549640" y="3163824"/>
            <a:ext cx="502920" cy="15544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900" b="1">
                <a:solidFill>
                  <a:srgbClr val="23372A"/>
                </a:solidFill>
                <a:latin typeface="Apto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89720" y="2999232"/>
            <a:ext cx="192024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1">
                <a:solidFill>
                  <a:srgbClr val="46805B"/>
                </a:solidFill>
                <a:latin typeface="Aptos"/>
              </a:rPr>
              <a:t>RELIABLE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41080" y="3611880"/>
            <a:ext cx="2606040" cy="5486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23372A"/>
                </a:solidFill>
                <a:latin typeface="Aptos"/>
              </a:rPr>
              <a:t>Keep users informed until delivery.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715000"/>
            <a:ext cx="365760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300" b="1">
                <a:solidFill>
                  <a:srgbClr val="E8B74E"/>
                </a:solidFill>
                <a:latin typeface="Aptos"/>
              </a:rPr>
              <a:t>Thank you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5806440"/>
            <a:ext cx="484632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050" b="0">
                <a:solidFill>
                  <a:srgbClr val="BECDC1"/>
                </a:solidFill>
                <a:latin typeface="Aptos"/>
              </a:rPr>
              <a:t>User Journey Map • Grocery Delivery Application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517</Words>
  <Application>Microsoft Office PowerPoint</Application>
  <PresentationFormat>Custom</PresentationFormat>
  <Paragraphs>170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YashikaSobitha</dc:creator>
  <dc:description>generated using python-pptx</dc:description>
  <cp:lastModifiedBy>YashikaSobitha</cp:lastModifiedBy>
  <cp:revision>2</cp:revision>
  <dcterms:created xsi:type="dcterms:W3CDTF">2013-01-27T09:14:16Z</dcterms:created>
  <dcterms:modified xsi:type="dcterms:W3CDTF">2026-08-30T08:44:22Z</dcterms:modified>
</cp:coreProperties>
</file>